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313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374D542-6E3E-455F-9BFB-B45891911720}">
          <p14:sldIdLst>
            <p14:sldId id="256"/>
            <p14:sldId id="313"/>
            <p14:sldId id="257"/>
          </p14:sldIdLst>
        </p14:section>
        <p14:section name="The System Description" id="{6844172C-9703-4DC7-908A-C23538616A3C}">
          <p14:sldIdLst>
            <p14:sldId id="258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9209A0-EF3E-531C-79B2-247EB53B52E2}" v="40" dt="2025-12-19T11:02:08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1628" y="1528430"/>
            <a:ext cx="8257953" cy="1622352"/>
          </a:xfrm>
        </p:spPr>
        <p:txBody>
          <a:bodyPr/>
          <a:lstStyle/>
          <a:p>
            <a:r>
              <a:rPr lang="en-US" b="1">
                <a:latin typeface="Arial"/>
                <a:ea typeface="Meiryo"/>
                <a:cs typeface="Arial"/>
              </a:rPr>
              <a:t>Recipe and</a:t>
            </a:r>
            <a:br>
              <a:rPr lang="en-US" b="1">
                <a:latin typeface="Arial"/>
                <a:ea typeface="Meiryo"/>
              </a:rPr>
            </a:br>
            <a:r>
              <a:rPr lang="en-US" b="1">
                <a:latin typeface="Arial"/>
                <a:ea typeface="Meiryo"/>
                <a:cs typeface="Arial"/>
              </a:rPr>
              <a:t>         Nutrition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22DE6-C2BE-4B53-BC28-C43EBD0052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721" y="4049497"/>
            <a:ext cx="9144000" cy="1287675"/>
          </a:xfrm>
        </p:spPr>
        <p:txBody>
          <a:bodyPr/>
          <a:lstStyle/>
          <a:p>
            <a:r>
              <a:rPr lang="en-US" b="1" u="sng">
                <a:latin typeface="Segoe UI Semibold"/>
                <a:cs typeface="Segoe UI Semibold"/>
              </a:rPr>
              <a:t>A Python-</a:t>
            </a:r>
            <a:r>
              <a:rPr lang="en-US" b="1" u="sng" err="1">
                <a:latin typeface="Segoe UI Semibold"/>
                <a:cs typeface="Segoe UI Semibold"/>
              </a:rPr>
              <a:t>Tkinter</a:t>
            </a:r>
            <a:r>
              <a:rPr lang="en-US" b="1" u="sng">
                <a:latin typeface="Segoe UI Semibold"/>
                <a:cs typeface="Segoe UI Semibold"/>
              </a:rPr>
              <a:t> Solution for Meal Planning and Tracking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A6874B-FAE7-01FA-010C-082B4995B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512639"/>
              </p:ext>
            </p:extLst>
          </p:nvPr>
        </p:nvGraphicFramePr>
        <p:xfrm>
          <a:off x="1646338" y="4688951"/>
          <a:ext cx="816864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864049014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1963575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                     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         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797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Siaw Yu Zhe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25JMD12409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45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Cheng Wei Yang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25JMD09282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549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Segoe UI Light"/>
                        </a:rPr>
                        <a:t>Deveswar</a:t>
                      </a:r>
                      <a:r>
                        <a:rPr lang="en-US" sz="1800" b="1" i="0" u="none" strike="noStrike" noProof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Segoe UI Light"/>
                        </a:rPr>
                        <a:t> Mohan</a:t>
                      </a:r>
                      <a:endParaRPr lang="en-US" sz="1800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25JMD07836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846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8E548-5B63-AF51-C688-234FAD7DB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BB8EFF2-93D6-52D5-2CCB-AA18768B974F}"/>
              </a:ext>
            </a:extLst>
          </p:cNvPr>
          <p:cNvSpPr/>
          <p:nvPr/>
        </p:nvSpPr>
        <p:spPr>
          <a:xfrm>
            <a:off x="-838392" y="-685957"/>
            <a:ext cx="14195509" cy="872690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8634AECE-13C8-ED1B-2C0F-4D5752B92857}"/>
              </a:ext>
            </a:extLst>
          </p:cNvPr>
          <p:cNvSpPr/>
          <p:nvPr/>
        </p:nvSpPr>
        <p:spPr>
          <a:xfrm>
            <a:off x="5255149" y="606639"/>
            <a:ext cx="1399389" cy="1266165"/>
          </a:xfrm>
          <a:prstGeom prst="down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上 16">
            <a:extLst>
              <a:ext uri="{FF2B5EF4-FFF2-40B4-BE49-F238E27FC236}">
                <a16:creationId xmlns:a16="http://schemas.microsoft.com/office/drawing/2014/main" id="{B41AE4F0-3357-FC05-8000-3D0927142679}"/>
              </a:ext>
            </a:extLst>
          </p:cNvPr>
          <p:cNvSpPr/>
          <p:nvPr/>
        </p:nvSpPr>
        <p:spPr>
          <a:xfrm>
            <a:off x="4561889" y="-272197"/>
            <a:ext cx="1395239" cy="1472281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CFBB9990-B618-65A5-BE1D-CD29BB7D2DE4}"/>
              </a:ext>
            </a:extLst>
          </p:cNvPr>
          <p:cNvSpPr/>
          <p:nvPr/>
        </p:nvSpPr>
        <p:spPr>
          <a:xfrm>
            <a:off x="4321083" y="606639"/>
            <a:ext cx="834036" cy="1266165"/>
          </a:xfrm>
          <a:prstGeom prst="down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D5590B8C-2DE5-DCAB-9EE1-FF00FB2931D2}"/>
              </a:ext>
            </a:extLst>
          </p:cNvPr>
          <p:cNvSpPr/>
          <p:nvPr/>
        </p:nvSpPr>
        <p:spPr>
          <a:xfrm>
            <a:off x="2734726" y="-132905"/>
            <a:ext cx="2427627" cy="1275636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上 11">
            <a:extLst>
              <a:ext uri="{FF2B5EF4-FFF2-40B4-BE49-F238E27FC236}">
                <a16:creationId xmlns:a16="http://schemas.microsoft.com/office/drawing/2014/main" id="{2438936E-C65A-D8FD-456C-D15E5BFADABE}"/>
              </a:ext>
            </a:extLst>
          </p:cNvPr>
          <p:cNvSpPr/>
          <p:nvPr/>
        </p:nvSpPr>
        <p:spPr>
          <a:xfrm>
            <a:off x="301244" y="-132906"/>
            <a:ext cx="1387046" cy="1300215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79AA28B8-0DE2-FA6A-0740-273AB5EFCB55}"/>
              </a:ext>
            </a:extLst>
          </p:cNvPr>
          <p:cNvSpPr/>
          <p:nvPr/>
        </p:nvSpPr>
        <p:spPr>
          <a:xfrm>
            <a:off x="994504" y="541091"/>
            <a:ext cx="1227325" cy="1585713"/>
          </a:xfrm>
          <a:prstGeom prst="down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F2E285D3-8573-FCC9-BCA2-42B79CD9C9DB}"/>
              </a:ext>
            </a:extLst>
          </p:cNvPr>
          <p:cNvSpPr/>
          <p:nvPr/>
        </p:nvSpPr>
        <p:spPr>
          <a:xfrm>
            <a:off x="1685953" y="-354132"/>
            <a:ext cx="952788" cy="1472281"/>
          </a:xfrm>
          <a:prstGeom prst="up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1B61C67F-91C4-F344-1BBF-DB5BFBA3C2BA}"/>
              </a:ext>
            </a:extLst>
          </p:cNvPr>
          <p:cNvSpPr/>
          <p:nvPr/>
        </p:nvSpPr>
        <p:spPr>
          <a:xfrm>
            <a:off x="1830246" y="606639"/>
            <a:ext cx="2046679" cy="1290746"/>
          </a:xfrm>
          <a:prstGeom prst="down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剪去对角 2">
            <a:extLst>
              <a:ext uri="{FF2B5EF4-FFF2-40B4-BE49-F238E27FC236}">
                <a16:creationId xmlns:a16="http://schemas.microsoft.com/office/drawing/2014/main" id="{03E083C1-D3E9-35AF-69E8-BC7906917BFA}"/>
              </a:ext>
            </a:extLst>
          </p:cNvPr>
          <p:cNvSpPr/>
          <p:nvPr/>
        </p:nvSpPr>
        <p:spPr>
          <a:xfrm>
            <a:off x="2910935" y="1874614"/>
            <a:ext cx="4427801" cy="1297875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C5BF1-0143-9E84-DE37-F6AE6AF56D7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MY" sz="3200" b="1">
                <a:latin typeface="Arial"/>
                <a:cs typeface="Arial"/>
              </a:rPr>
              <a:t>The Contribution of the Team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D46439-E576-689C-8AC5-AC8C40EAD8B0}"/>
              </a:ext>
            </a:extLst>
          </p:cNvPr>
          <p:cNvSpPr txBox="1">
            <a:spLocks/>
          </p:cNvSpPr>
          <p:nvPr/>
        </p:nvSpPr>
        <p:spPr>
          <a:xfrm>
            <a:off x="3044168" y="1549024"/>
            <a:ext cx="8257953" cy="162235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Arial"/>
                <a:ea typeface="Meiryo"/>
                <a:cs typeface="Arial"/>
              </a:rPr>
              <a:t>Recipe and</a:t>
            </a:r>
            <a:br>
              <a:rPr lang="en-US" b="1">
                <a:latin typeface="Arial"/>
                <a:ea typeface="Meiryo"/>
              </a:rPr>
            </a:br>
            <a:r>
              <a:rPr lang="en-US" b="1">
                <a:latin typeface="Arial"/>
                <a:ea typeface="Meiryo"/>
                <a:cs typeface="Arial"/>
              </a:rPr>
              <a:t>         Nutrition Assistant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2515F8-123A-A9D4-6434-6823EFB90485}"/>
              </a:ext>
            </a:extLst>
          </p:cNvPr>
          <p:cNvSpPr/>
          <p:nvPr/>
        </p:nvSpPr>
        <p:spPr>
          <a:xfrm>
            <a:off x="760211" y="3711670"/>
            <a:ext cx="10068313" cy="2295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5300A2-6746-91EB-C76A-79953DD9BC48}"/>
              </a:ext>
            </a:extLst>
          </p:cNvPr>
          <p:cNvSpPr txBox="1">
            <a:spLocks/>
          </p:cNvSpPr>
          <p:nvPr/>
        </p:nvSpPr>
        <p:spPr>
          <a:xfrm>
            <a:off x="1518110" y="3781478"/>
            <a:ext cx="10059979" cy="215781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latin typeface="Arial"/>
                <a:ea typeface="Meiryo"/>
                <a:cs typeface="Arial"/>
              </a:rPr>
              <a:t>Recipe Manager – Siaw Yu Zhe</a:t>
            </a:r>
          </a:p>
          <a:p>
            <a:endParaRPr lang="en-US" b="1">
              <a:latin typeface="Arial"/>
              <a:ea typeface="Meiryo"/>
              <a:cs typeface="Arial"/>
            </a:endParaRPr>
          </a:p>
          <a:p>
            <a:r>
              <a:rPr lang="en-US" b="1">
                <a:latin typeface="Arial"/>
                <a:ea typeface="Meiryo"/>
                <a:cs typeface="Arial"/>
              </a:rPr>
              <a:t>Ingredients Substitute Assistant –</a:t>
            </a:r>
            <a:r>
              <a:rPr lang="en-US" b="1" err="1">
                <a:latin typeface="Arial"/>
                <a:ea typeface="Meiryo"/>
                <a:cs typeface="Arial"/>
              </a:rPr>
              <a:t>Deveswar</a:t>
            </a:r>
            <a:r>
              <a:rPr lang="en-US" b="1">
                <a:latin typeface="Arial"/>
                <a:ea typeface="Meiryo"/>
                <a:cs typeface="Arial"/>
              </a:rPr>
              <a:t> Mohan</a:t>
            </a:r>
          </a:p>
          <a:p>
            <a:endParaRPr lang="en-US" b="1">
              <a:latin typeface="Arial"/>
              <a:ea typeface="Meiryo"/>
              <a:cs typeface="Arial"/>
            </a:endParaRPr>
          </a:p>
          <a:p>
            <a:r>
              <a:rPr lang="en-US" b="1">
                <a:latin typeface="Arial"/>
                <a:ea typeface="Meiryo"/>
                <a:cs typeface="Arial"/>
              </a:rPr>
              <a:t>Recipe List Generator – Cheng Wei Yang</a:t>
            </a:r>
          </a:p>
        </p:txBody>
      </p:sp>
    </p:spTree>
    <p:extLst>
      <p:ext uri="{BB962C8B-B14F-4D97-AF65-F5344CB8AC3E}">
        <p14:creationId xmlns:p14="http://schemas.microsoft.com/office/powerpoint/2010/main" val="213720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日历&#10;&#10;AI 生成的内容可能不正确。">
            <a:extLst>
              <a:ext uri="{FF2B5EF4-FFF2-40B4-BE49-F238E27FC236}">
                <a16:creationId xmlns:a16="http://schemas.microsoft.com/office/drawing/2014/main" id="{8263CEB6-E933-72CE-2C57-A6351AAB8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020" y="1"/>
            <a:ext cx="12338147" cy="6948129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EEC793D0-C39D-7866-8A1D-7904E22D430A}"/>
              </a:ext>
            </a:extLst>
          </p:cNvPr>
          <p:cNvSpPr/>
          <p:nvPr/>
        </p:nvSpPr>
        <p:spPr>
          <a:xfrm>
            <a:off x="-57921" y="2218759"/>
            <a:ext cx="11111363" cy="410599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8520AD7-A882-F338-2BE2-04D7DFA8DF03}"/>
              </a:ext>
            </a:extLst>
          </p:cNvPr>
          <p:cNvSpPr/>
          <p:nvPr/>
        </p:nvSpPr>
        <p:spPr>
          <a:xfrm>
            <a:off x="411910" y="407369"/>
            <a:ext cx="12567481" cy="79019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>
                <a:latin typeface="Arial"/>
                <a:cs typeface="Arial"/>
              </a:rPr>
              <a:t>What’s the </a:t>
            </a:r>
            <a:r>
              <a:rPr lang="en-MY" sz="3200" b="1">
                <a:latin typeface="Arial"/>
                <a:cs typeface="Arial"/>
              </a:rPr>
              <a:t>Recipe &amp; Nutrition Assistant overview?</a:t>
            </a:r>
            <a:endParaRPr lang="en-US" sz="3200" b="1">
              <a:latin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C311DF-BD02-2EAB-F7B1-980FE95BBBC3}"/>
              </a:ext>
            </a:extLst>
          </p:cNvPr>
          <p:cNvSpPr txBox="1"/>
          <p:nvPr/>
        </p:nvSpPr>
        <p:spPr>
          <a:xfrm>
            <a:off x="816370" y="2323746"/>
            <a:ext cx="10232630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/>
              <a:t>The Recipe &amp; Nutrition Assistant is a comprehensive Python-</a:t>
            </a:r>
            <a:r>
              <a:rPr lang="en-US" sz="2400" err="1"/>
              <a:t>Tkinter</a:t>
            </a:r>
            <a:r>
              <a:rPr lang="en-US" sz="2400"/>
              <a:t> desktop application designed to be a digital kitchen companion that simplifies meal planning and tracking. Its core functionality is partitioned into three main modules. The Recipe Manager, which allows users full control over a personal recipe database, including nutritional logging and meal tracking. The Ingredient Substitutes Assistant, which provides quick culinary alternatives for missing items; and the Recipe List Generator, which automatically aggregates ingredients from planned meals, checks inventory, and produces an optimized, cost-estimated shopping list ready for execution.</a:t>
            </a:r>
            <a:endParaRPr lang="en-MY" sz="2400">
              <a:cs typeface="Segoe UI"/>
            </a:endParaRPr>
          </a:p>
        </p:txBody>
      </p:sp>
      <p:pic>
        <p:nvPicPr>
          <p:cNvPr id="6" name="图片 5" descr="图标&#10;&#10;AI 生成的内容可能不正确。">
            <a:extLst>
              <a:ext uri="{FF2B5EF4-FFF2-40B4-BE49-F238E27FC236}">
                <a16:creationId xmlns:a16="http://schemas.microsoft.com/office/drawing/2014/main" id="{D58904F1-62B5-A7C2-82FC-EFE6F1F23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058" y="2218049"/>
            <a:ext cx="936386" cy="95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剪去对角 4">
            <a:extLst>
              <a:ext uri="{FF2B5EF4-FFF2-40B4-BE49-F238E27FC236}">
                <a16:creationId xmlns:a16="http://schemas.microsoft.com/office/drawing/2014/main" id="{839D0D54-4145-2241-37C5-91952C3B225A}"/>
              </a:ext>
            </a:extLst>
          </p:cNvPr>
          <p:cNvSpPr/>
          <p:nvPr/>
        </p:nvSpPr>
        <p:spPr>
          <a:xfrm rot="3000000">
            <a:off x="3971113" y="1648913"/>
            <a:ext cx="12359370" cy="3768920"/>
          </a:xfrm>
          <a:prstGeom prst="snip2Diag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FBB65A90-FE8C-D6AF-38C3-8178F2186E75}"/>
              </a:ext>
            </a:extLst>
          </p:cNvPr>
          <p:cNvSpPr/>
          <p:nvPr/>
        </p:nvSpPr>
        <p:spPr>
          <a:xfrm>
            <a:off x="-4415015" y="-1948041"/>
            <a:ext cx="15914149" cy="9234455"/>
          </a:xfrm>
          <a:prstGeom prst="triangl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  <a:p>
            <a:pPr algn="ctr"/>
            <a:endParaRPr lang="zh-CN" altLang="en-US">
              <a:cs typeface="Segoe UI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29E7B72-97A3-94C7-FF31-212578F53247}"/>
              </a:ext>
            </a:extLst>
          </p:cNvPr>
          <p:cNvSpPr/>
          <p:nvPr/>
        </p:nvSpPr>
        <p:spPr>
          <a:xfrm>
            <a:off x="-4335629" y="-4578762"/>
            <a:ext cx="9874757" cy="1017056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114" y="655697"/>
            <a:ext cx="10983132" cy="747763"/>
          </a:xfrm>
        </p:spPr>
        <p:txBody>
          <a:bodyPr>
            <a:normAutofit/>
          </a:bodyPr>
          <a:lstStyle/>
          <a:p>
            <a:r>
              <a:rPr lang="en-US" sz="3200" b="1" u="sng">
                <a:latin typeface="Arial"/>
                <a:cs typeface="Arial"/>
              </a:rPr>
              <a:t>Why did we choose this prototype development.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F078176-9800-79C4-77F8-5A67269601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4434" y="1708024"/>
            <a:ext cx="9018587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1) Solving a Consolidated Problem: To address the fragmentation of meal preparation tasks </a:t>
            </a:r>
            <a:r>
              <a:rPr kumimoji="0" lang="en-US" altLang="en-US" sz="1600" b="1" i="0" u="sng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recipe hunting, logging nutrition, and shopping by creating a single, unified digital hub.</a:t>
            </a:r>
            <a:endParaRPr lang="en-US" altLang="en-US" sz="1600" b="1" i="0" u="sng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>
                <a:latin typeface="Arial"/>
                <a:cs typeface="Arial"/>
              </a:rPr>
              <a:t>2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) Focus on Practical Automation: The project's core challenge was automating the complex logic of generating a smart shopping list aggregating multiple recipe needs, checking against a dynamic pantry inventory, and calculating costs.</a:t>
            </a:r>
            <a:endParaRPr lang="en-US" altLang="en-US" sz="1600" b="1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>
                <a:latin typeface="Arial"/>
                <a:cs typeface="Arial"/>
              </a:rPr>
              <a:t>3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) Enhancing Practical Utility: The inclusion of the Ingredient Substitution module targeted a common frustration point missing ingredient with a technical solution, boosting the application's real-world usefulness.</a:t>
            </a:r>
            <a:endParaRPr lang="en-US" altLang="en-US" sz="1600" b="1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>
                <a:latin typeface="Arial"/>
                <a:cs typeface="Arial"/>
              </a:rPr>
              <a:t>4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) Applying Rich, Specific Data: The topic allowed for the deliberate use of rich, detailed, and specific datasets like </a:t>
            </a:r>
            <a:r>
              <a:rPr kumimoji="0" lang="en-US" altLang="en-US" sz="1600" b="1" i="0" u="sng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authentic Malaysian recipes</a:t>
            </a: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to thoroughly test the application's data structures and display capabilities.</a:t>
            </a:r>
            <a:endParaRPr lang="en-US" altLang="en-US" sz="1600" b="1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6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E0F6C7AC-834B-C224-C3CE-F75D9A22885D}"/>
              </a:ext>
            </a:extLst>
          </p:cNvPr>
          <p:cNvSpPr/>
          <p:nvPr/>
        </p:nvSpPr>
        <p:spPr>
          <a:xfrm>
            <a:off x="-428723" y="-400142"/>
            <a:ext cx="13404753" cy="815527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虚尾 9">
            <a:extLst>
              <a:ext uri="{FF2B5EF4-FFF2-40B4-BE49-F238E27FC236}">
                <a16:creationId xmlns:a16="http://schemas.microsoft.com/office/drawing/2014/main" id="{8212BBE7-BD4C-601C-DD62-82DADAA70F56}"/>
              </a:ext>
            </a:extLst>
          </p:cNvPr>
          <p:cNvSpPr/>
          <p:nvPr/>
        </p:nvSpPr>
        <p:spPr>
          <a:xfrm>
            <a:off x="665745" y="4022174"/>
            <a:ext cx="11591229" cy="2464019"/>
          </a:xfrm>
          <a:prstGeom prst="striped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左 1">
            <a:extLst>
              <a:ext uri="{FF2B5EF4-FFF2-40B4-BE49-F238E27FC236}">
                <a16:creationId xmlns:a16="http://schemas.microsoft.com/office/drawing/2014/main" id="{021BACC7-3070-D605-D3D0-398AD50D894C}"/>
              </a:ext>
            </a:extLst>
          </p:cNvPr>
          <p:cNvSpPr/>
          <p:nvPr/>
        </p:nvSpPr>
        <p:spPr>
          <a:xfrm>
            <a:off x="369878" y="369878"/>
            <a:ext cx="8423155" cy="958323"/>
          </a:xfrm>
          <a:prstGeom prst="lef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Arial"/>
              </a:rPr>
              <a:t>What The System Does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572B26-98AF-4AA8-9A0F-435FBBFB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715429" y="1699333"/>
            <a:ext cx="281971" cy="307912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</a:t>
            </a:r>
          </a:p>
        </p:txBody>
      </p:sp>
      <p:sp>
        <p:nvSpPr>
          <p:cNvPr id="12" name="箭头: 虚尾 11">
            <a:extLst>
              <a:ext uri="{FF2B5EF4-FFF2-40B4-BE49-F238E27FC236}">
                <a16:creationId xmlns:a16="http://schemas.microsoft.com/office/drawing/2014/main" id="{31F3FA2B-0556-5307-B013-81179821E2BE}"/>
              </a:ext>
            </a:extLst>
          </p:cNvPr>
          <p:cNvSpPr/>
          <p:nvPr/>
        </p:nvSpPr>
        <p:spPr>
          <a:xfrm>
            <a:off x="602992" y="2923852"/>
            <a:ext cx="11591229" cy="1917173"/>
          </a:xfrm>
          <a:prstGeom prst="striped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851C4E8-1EC2-4782-B31A-6F082712F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698517" y="3142813"/>
            <a:ext cx="281971" cy="286187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D3B53A-9E90-4B19-BA5D-E8F4971E2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White">
          <a:xfrm>
            <a:off x="668744" y="4417764"/>
            <a:ext cx="281971" cy="286187"/>
          </a:xfrm>
          <a:prstGeom prst="ellipse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3</a:t>
            </a:r>
          </a:p>
        </p:txBody>
      </p:sp>
      <p:sp>
        <p:nvSpPr>
          <p:cNvPr id="7" name="箭头: 虚尾 6">
            <a:extLst>
              <a:ext uri="{FF2B5EF4-FFF2-40B4-BE49-F238E27FC236}">
                <a16:creationId xmlns:a16="http://schemas.microsoft.com/office/drawing/2014/main" id="{F3E4B42E-0708-2753-7E40-1350421D58DF}"/>
              </a:ext>
            </a:extLst>
          </p:cNvPr>
          <p:cNvSpPr/>
          <p:nvPr/>
        </p:nvSpPr>
        <p:spPr>
          <a:xfrm>
            <a:off x="602992" y="1512056"/>
            <a:ext cx="11591229" cy="1917173"/>
          </a:xfrm>
          <a:prstGeom prst="striped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1C2DC0E-5FBC-6355-DE39-1DC1A07EBE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0715" y="1699333"/>
            <a:ext cx="11241285" cy="450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strike="noStrike" cap="none" normalizeH="0" baseline="0">
                <a:ln>
                  <a:noFill/>
                </a:ln>
                <a:effectLst/>
                <a:latin typeface="Google Sans Text"/>
              </a:rPr>
              <a:t>Recipe Management:</a:t>
            </a:r>
            <a:endParaRPr lang="en-US" altLang="en-US" sz="1600" b="1" i="0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It allows users to input, edit, view, and delete recipes from a personal database.</a:t>
            </a:r>
            <a:endParaRPr lang="en-US" altLang="en-US" sz="1600" i="0" u="none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It stores essential metadata, including specific ingredients, serving sizes, cuisine type, and nutritional facts like the calculated calories per serving.</a:t>
            </a:r>
            <a:endParaRPr lang="en-US" altLang="en-US" sz="1600" i="0" u="none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It tracks user consumption by logging which recipes and how many servings were eaten, aiding in weekly calorie monitoring.</a:t>
            </a:r>
            <a:endParaRPr lang="en-US" altLang="en-US" sz="1600" i="0" u="none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i="0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strike="noStrike" cap="none" normalizeH="0" baseline="0">
                <a:ln>
                  <a:noFill/>
                </a:ln>
                <a:effectLst/>
                <a:latin typeface="Google Sans Text"/>
              </a:rPr>
              <a:t>Ingredient Substitution Service:</a:t>
            </a:r>
            <a:endParaRPr lang="en-US" altLang="en-US" sz="1600" b="1" i="0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The system maintains a dictionary of ingredient alternatives (Ginger : Galangal).</a:t>
            </a:r>
            <a:endParaRPr lang="en-US" altLang="en-US" sz="1600" i="0" u="none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If a user is missing a required ingredient, the system provides immediate, searchable alternatives to maintain the recipe's integrity or flavor profile, preventing interruptions in cooking.</a:t>
            </a:r>
            <a:endParaRPr lang="en-US" altLang="en-US" sz="1600" i="0" u="none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600" i="0" u="none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Automated Shopping List Generation:</a:t>
            </a:r>
            <a:endParaRPr lang="en-US" altLang="en-US" sz="1600" b="1" i="0" u="none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This is a critical function that turns a weekly meal plan into an actionable grocery list.</a:t>
            </a:r>
            <a:endParaRPr lang="en-US" altLang="en-US" sz="1600" i="0" u="none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It first aggregates all necessary ingredients and their total quantities across all selected recipes.</a:t>
            </a:r>
            <a:endParaRPr lang="en-US" altLang="en-US" sz="1600" i="0" u="none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It then performs an inventory check, automatically deducting ingredients the user has marked as already available in their 'pantry'.</a:t>
            </a:r>
            <a:endParaRPr lang="en-US" altLang="en-US" sz="1600" i="0" u="none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>
                <a:ln>
                  <a:noFill/>
                </a:ln>
                <a:effectLst/>
                <a:latin typeface="Google Sans Text"/>
              </a:rPr>
              <a:t>Finally, it produces a clean, prioritized list formatted for easy printout or export (CSV), including an estimated cost for the remaining items needed.</a:t>
            </a:r>
            <a:endParaRPr lang="en-US" altLang="en-US" sz="1600" i="0" u="none" strike="noStrike" cap="none" normalizeH="0" baseline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 build="p"/>
    </p:bldLst>
  </p:timing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{D7D863F4-7CE2-44FD-B99A-A6AB13C0B3C2}tf16411177_win32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Get Started with 3D</vt:lpstr>
      <vt:lpstr>Recipe and          Nutrition Assistant</vt:lpstr>
      <vt:lpstr>The Contribution of the Team</vt:lpstr>
      <vt:lpstr>What’s the Recipe &amp; Nutrition Assistant overview?</vt:lpstr>
      <vt:lpstr>Why did we choose this prototype development.</vt:lpstr>
      <vt:lpstr>What The System Does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deveswar mohan</dc:creator>
  <cp:revision>11</cp:revision>
  <dcterms:created xsi:type="dcterms:W3CDTF">2025-12-16T09:02:21Z</dcterms:created>
  <dcterms:modified xsi:type="dcterms:W3CDTF">2025-12-19T11:06:05Z</dcterms:modified>
</cp:coreProperties>
</file>